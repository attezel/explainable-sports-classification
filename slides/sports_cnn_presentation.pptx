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yourself, the topic (12.4), and the three models. ~20s.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task and stress why explainability matters for trust.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dataset and preprocessing. Point to the sample grid and the near-balanced distribution.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five research questions; they structure the whole talk.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through the pipeline: data -&gt; preprocess/augment -&gt; 3 models -&gt; evaluate -&gt; Grad-CAM/SHAP -&gt; deploy. Everything is seeded for reproducibility. 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from-scratch baseline with the two transfer-learning models and the two-stage protocol.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training curves: convergence, early stopping, and the train-val gap as an overfitting check.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 PLACEHOLDER NUMBERS — replace with your real Kaggle results before recording. After the run, set the ✓ on whichever model gives the best accuracy/size/speed balance and update every number in this table. ~50s.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confusion matrix to name the hardest, most-confused sports and the easiest ones. ~35s.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Grad-CAM and SHAP agree on correct cases and expose background reliance on wrong ones. ~45s.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Argue for balance over raw accuracy; introduce the live demo (you will show it in the 2-min demo part).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the four takeaways, state limitations honestly, and thank the audience. ~40s.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C7A7B"/>
                </a:solidFill>
                <a:latin typeface="Calibri"/>
              </a:rPr>
              <a:t>MACHINE LEARNING &amp; SMART SYSTEMS  ·  TOPIC 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213952"/>
                </a:solidFill>
                <a:latin typeface="Calibri Light"/>
              </a:rPr>
              <a:t>Explainable Sports Category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600" b="1" i="0">
                <a:solidFill>
                  <a:srgbClr val="213952"/>
                </a:solidFill>
                <a:latin typeface="Calibri Light"/>
              </a:rPr>
              <a:t>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327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334760"/>
                </a:solidFill>
                <a:latin typeface="Calibri"/>
              </a:rPr>
              <a:t>CNN transfer learning with Grad-CAM &amp; SHAP — 100-class image recognition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56692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Arda Tekin Tezel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Machine Learning &amp; Smart Systems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University of Europe for Applied Sciences, Potsdam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846320"/>
            <a:ext cx="45720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Final Project — Phase III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556374"/>
                </a:solidFill>
                <a:latin typeface="Calibri"/>
              </a:rPr>
              <a:t>100-class image classification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3952"/>
                </a:solidFill>
                <a:latin typeface="Calibri"/>
              </a:rPr>
              <a:t>Custom CNN  ·  EfficientNetV2-B0  ·  ConvNeXt-Tiny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Why classify sports images — and why explain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Accuracy alone is not enough for a trustworthy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75688"/>
            <a:ext cx="3090672" cy="1929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Sports media platforms and archives hold millions of images that must be tagged by sport for search, indexing, and broadcast analytics.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874519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075688"/>
            <a:ext cx="3090672" cy="1929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Manual tagging fails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Hand-labelling across 100+ categories is slow, costly, and inconsistent — it simply does not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74519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75688"/>
            <a:ext cx="3090672" cy="1929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Explainability is essential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A model can be right for the wrong reasons. We must verify it looks at the athlete and equipment, not the background.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0908792" cy="123444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727448"/>
            <a:ext cx="10506456" cy="8321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🎯  Goal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An accurate AND interpretable 100-class sports classifier, deployed as a live web demo whose every decision can be inspected with Grad-CAM and SHAP.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DATA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100 Sports Image Classification (Kaggle, gpiosenka)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From raw images to a model-ready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493008" cy="1874519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75688"/>
            <a:ext cx="3090672" cy="1472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100 classes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~14,500 RGB images spanning 100 sports, from air hockey to wingsuit flying.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874519"/>
            <a:ext cx="3493008" cy="1874519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075688"/>
            <a:ext cx="3090672" cy="1472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Fixed splits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13,493 train / 500 validation / 500 test, all standardised to 224 x 224 x 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74519"/>
            <a:ext cx="3493008" cy="1874519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75688"/>
            <a:ext cx="3090672" cy="1472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Augmentation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Horizontal flip, small rotation, zoom and contrast — applied to the training set only.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77639"/>
            <a:ext cx="5349240" cy="23774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77639"/>
            <a:ext cx="534924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sample_grid.png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7336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Sample images (one per class)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977639"/>
            <a:ext cx="5349240" cy="23774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3977639"/>
            <a:ext cx="534924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class_distribution.png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637336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Class distribution — near-balanced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Five questions guide the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From model choice to a deployable, explainable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92024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Which architecture classifies 100 sports most accurately?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8892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Does ImageNet transfer learning beat a custom CNN trained from scratch?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5760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Do Grad-CAM and SHAP show the model attends to athletes and equipment, not the background?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2628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52628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Which model gives the best accuracy / speed / size trade-off?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1051560" cy="713232"/>
          </a:xfrm>
          <a:prstGeom prst="roundRect">
            <a:avLst>
              <a:gd name="adj" fmla="val 8000"/>
            </a:avLst>
          </a:prstGeom>
          <a:solidFill>
            <a:srgbClr val="2139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105156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RQ5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394960"/>
            <a:ext cx="960120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Can the best model be deployed as a working, explainable web demo?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From raw images to an explainable 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 single, reproducible pipeline (seed 42)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623" y="1828800"/>
            <a:ext cx="8373704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Three architectures, one classification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 lightweight baseline versus two pretrained backbones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93008" cy="27889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21408"/>
            <a:ext cx="3090672" cy="23865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FD6"/>
                </a:solidFill>
                <a:latin typeface="Calibri"/>
              </a:rPr>
              <a:t>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Custom CNN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From scratch; 4 convolutional blocks (32 -&gt; 256).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BatchNorm + MaxPool; global average pooling.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Lightweight baseline.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920240"/>
            <a:ext cx="3493008" cy="27889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121408"/>
            <a:ext cx="3090672" cy="23865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FD6"/>
                </a:solidFill>
                <a:latin typeface="Calibri"/>
              </a:rPr>
              <a:t>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EfficientNetV2-B0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ImageNet pretrained; transfer learning.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Two-phase fine-tuning; ~6-7M parameters.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Efficiency-focused.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20240"/>
            <a:ext cx="3493008" cy="278892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21408"/>
            <a:ext cx="3090672" cy="23865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FD6"/>
                </a:solidFill>
                <a:latin typeface="Calibri"/>
              </a:rPr>
              <a:t>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ConvNeXt-Tiny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ImageNet pretrained; modern ConvNet.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Two-phase fine-tuning; ~28M parameters.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Highest capacity.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230368"/>
            <a:ext cx="10506456" cy="51206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All trained with Adam, sparse categorical cross-entropy, early stopping and LR-reduction on plateau. Two-stage transfer: freeze the backbone to train the head, then fine-tune the top ~30%.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TRAINING BEHAVIOUR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Convergence and overfitting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Accuracy and loss, training versus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766560" cy="42062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6766560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training_curves.png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931920" cy="3840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What the curves show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All models converge within the epoch budget.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Early stopping restores the best validation weights.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The small train–validation gap shows augmentation kept overfitting under control.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Transfer-learning models start higher and plateau sooner than the from-scratch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RESULTS — TEST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Accuracy, and the cost of chasing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Headline metrics on the 500-image held-out test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00199"/>
                <a:gridCol w="1508760"/>
                <a:gridCol w="1325880"/>
                <a:gridCol w="1627632"/>
                <a:gridCol w="1737360"/>
              </a:tblGrid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Top-3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Inference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anchor="ctr">
                    <a:solidFill>
                      <a:srgbClr val="213952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Custom CNN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0.796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0.921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3.4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4.9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213952"/>
                          </a:solidFill>
                          <a:latin typeface="Calibri"/>
                        </a:rPr>
                        <a:t>EfficientNetV2-B0  ✓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213952"/>
                          </a:solidFill>
                          <a:latin typeface="Calibri"/>
                        </a:rPr>
                        <a:t>0.910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0.895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0.974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4.8 ms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213952"/>
                          </a:solidFill>
                          <a:latin typeface="Calibri"/>
                        </a:rPr>
                        <a:t>38 MB</a:t>
                      </a:r>
                    </a:p>
                  </a:txBody>
                  <a:tcPr anchor="ctr">
                    <a:solidFill>
                      <a:srgbClr val="EEF4FB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ConvNeXt-Tiny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12.9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235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434840"/>
            <a:ext cx="5349240" cy="146304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4636007"/>
            <a:ext cx="4946903" cy="10607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✓  Transfer learning wins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Both pretrained backbones beat the from-scratch baseline by roughly 8–10 accuracy points, answering RQ1 and RQ2.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434840"/>
            <a:ext cx="5349240" cy="146304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636007"/>
            <a:ext cx="4946903" cy="106070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⚡  Efficiency matters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EfficientNetV2-B0 matches the top accuracy at a fraction of ConvNeXt-Tiny's size and latency — the best balance for deployment (RQ4).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CLASS-LEVEL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Where the mistakes 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 100 x 100 confusion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583680" cy="420624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6583680" cy="4206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confusion_matrix.png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2103120"/>
            <a:ext cx="4114800" cy="3840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Reading the errors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A strong diagonal: most classes are recognised reliably.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Errors concentrate between visually similar sports — e.g. bowling vs bocce, or related racquet sports.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Distinctive-scene sports (e.g. swimming, motor racing) are near-perfect.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F2A37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F2A37"/>
                </a:solidFill>
                <a:latin typeface="Calibri"/>
              </a:rPr>
              <a:t>This pattern is exactly what explainability then probes (RQ3).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Does the model look at the right thing?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Two independent methods: Grad-CAM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349240" cy="2743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gradcam.png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3600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Grad-CAM — class activation heatmaps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74519"/>
            <a:ext cx="5349240" cy="2743200"/>
          </a:xfrm>
          <a:prstGeom prst="roundRect">
            <a:avLst>
              <a:gd name="adj" fmla="val 3000"/>
            </a:avLst>
          </a:prstGeom>
          <a:solidFill>
            <a:srgbClr val="F1F4F8"/>
          </a:solidFill>
          <a:ln w="15875">
            <a:solidFill>
              <a:srgbClr val="B6C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2" y="1874519"/>
            <a:ext cx="5349240" cy="2743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56374"/>
                </a:solidFill>
                <a:latin typeface="Calibri"/>
              </a:rPr>
              <a:t>🖼  shap.png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6374"/>
                </a:solidFill>
                <a:latin typeface="Calibri"/>
              </a:rPr>
              <a:t>paste from results.zip (Kaggle run)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4636007"/>
            <a:ext cx="5349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6374"/>
                </a:solidFill>
                <a:latin typeface="Calibri"/>
              </a:rPr>
              <a:t>SHAP — pixel-level attributions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D9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5276088"/>
            <a:ext cx="4946903" cy="8778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7A34"/>
                </a:solidFill>
                <a:latin typeface="Calibri"/>
              </a:rPr>
              <a:t>✓  Methods agree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7A34"/>
                </a:solidFill>
                <a:latin typeface="Calibri"/>
              </a:rPr>
              <a:t>Both methods are computed independently yet highlight the athlete, ball and playing area — strengthening trust that predictions use meaningful features (RQ3).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5074920"/>
            <a:ext cx="5349240" cy="1280160"/>
          </a:xfrm>
          <a:prstGeom prst="roundRect">
            <a:avLst>
              <a:gd name="adj" fmla="val 8000"/>
            </a:avLst>
          </a:prstGeom>
          <a:solidFill>
            <a:srgbClr val="F9DA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5276088"/>
            <a:ext cx="4946903" cy="8778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02A37"/>
                </a:solidFill>
                <a:latin typeface="Calibri"/>
              </a:rPr>
              <a:t>✕  But not always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02A37"/>
                </a:solidFill>
                <a:latin typeface="Calibri"/>
              </a:rPr>
              <a:t>On some errors the attention drifts to the background — a reliability warning that explainability surfaces and accuracy alone hides.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TRADE-OFF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Choosing for balance, not for the leaderboard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Accuracy is only one 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493008" cy="228600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21408"/>
            <a:ext cx="3090672" cy="18836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Custom CNN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4.9 MB · 3.4 ms.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Smallest and fastest; best where compute is tight.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920240"/>
            <a:ext cx="3493008" cy="22860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121408"/>
            <a:ext cx="3090672" cy="18836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EfficientNetV2-B0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38 MB · 4.8 ms.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Top accuracy, compact, fast.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Selected for deployment.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920240"/>
            <a:ext cx="3493008" cy="2286000"/>
          </a:xfrm>
          <a:prstGeom prst="roundRect">
            <a:avLst>
              <a:gd name="adj" fmla="val 8000"/>
            </a:avLst>
          </a:prstGeom>
          <a:solidFill>
            <a:srgbClr val="DD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21408"/>
            <a:ext cx="3090672" cy="18836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13952"/>
                </a:solidFill>
                <a:latin typeface="Calibri"/>
              </a:rPr>
              <a:t>ConvNeXt-Tiny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235 MB · 12.9 ms.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Highest capacity, but ~6x larger and slower for marginal gains.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26280"/>
            <a:ext cx="10908792" cy="13258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727448"/>
            <a:ext cx="10506456" cy="9235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🚀  Live, explainable web 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3952"/>
                </a:solidFill>
                <a:latin typeface="Calibri"/>
              </a:rPr>
              <a:t>Deployed on Hugging Face Spaces with Gradio: upload an image and get the top-5 sports, confidence scores, and a live Grad-CAM heatmap — directly in the browser (RQ4 &amp; RQ5).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13952"/>
                </a:solidFill>
                <a:latin typeface="Calibri Light"/>
              </a:rPr>
              <a:t>Accuracy is necessary. Explanation makes it trustworthy.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9259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34760"/>
                </a:solidFill>
                <a:latin typeface="Calibri"/>
              </a:rPr>
              <a:t>What the study established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91056"/>
            <a:ext cx="10908792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640080" y="1947672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Strong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All three CNNs classify 100 sports well; the best exceeds ~91% test accuracy.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0080" y="2834639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61487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Transfer learning wins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ImageNet pretraining beats the from-scratch baseline by a wide margin (RQ1, RQ2).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40080" y="3721607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648455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Explanations validated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Grad-CAM and SHAP confirm focus on athletes and equipment — and expose occasional background reliance (RQ3).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40080" y="4608575"/>
            <a:ext cx="640080" cy="384048"/>
          </a:xfrm>
          <a:prstGeom prst="rightArrow">
            <a:avLst/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535423"/>
            <a:ext cx="10058400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213952"/>
                </a:solidFill>
                <a:latin typeface="Calibri"/>
              </a:rPr>
              <a:t>Deployed prototype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EfficientNetV2-B0 chosen for balance and shipped as an explainable web demo (RQ4, RQ5).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86400"/>
            <a:ext cx="10908792" cy="109728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687568"/>
            <a:ext cx="10506456" cy="6949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13952"/>
                </a:solidFill>
                <a:latin typeface="Calibri"/>
              </a:rPr>
              <a:t>🔭  Limitations &amp; future work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13952"/>
                </a:solidFill>
                <a:latin typeface="Calibri"/>
              </a:rPr>
              <a:t>Single public dataset, no external validation, and heatmaps are not proof of correct reasoning. Future work: add diverse external data and reduce background-shortcut behaviour.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