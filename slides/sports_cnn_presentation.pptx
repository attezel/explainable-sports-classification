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Introduce yourself, the topic (12.4), and the three models. ~20s.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task and stress why explainability matters for trust.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dataset and preprocessing. Point to the sample grid and the near-balanced distribution (59–191 images/class, mean ~135).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five research questions; they structure the whole talk. 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through the pipeline: data -&gt; preprocess/augment -&gt; 3 models -&gt; evaluate -&gt; Grad-CAM/SHAP -&gt; deploy. Everything is seeded for reproducibility. ~45s.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from-scratch baseline with the two transfer-learning models and the two-stage protocol.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training curves: convergence, early stopping, and the train-val gap as an overfitting check. 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table: ConvNeXt-Tiny is most accurate (marked ✓), EfficientNetV2-B0 is nearly tied but far cheaper, and the custom CNN trails badly. Stress the ~49-point transfer-learning gain. ~50s.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confusion matrix to name the hardest, most-confused sports (frisbee, baton twirling, horseshoe pitching) and the perfect ones. 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Grad-CAM and SHAP agree on correct cases and expose background reliance on wrong ones. ~45s.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Argue for balance over raw accuracy: EfficientNetV2-B0 is the efficiency pick, ConvNeXt-Tiny the accuracy pick (and what is deployed). Introduce the live demo.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the four takeaways, state limitations honestly, and thank the audience.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3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C7A7B"/>
                </a:solidFill>
                <a:latin typeface="Calibri"/>
              </a:rPr>
              <a:t>MACHINE LEARNING &amp; SMART SYSTEMS  ·  TOPIC 12.4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213952"/>
                </a:solidFill>
                <a:latin typeface="Calibri Light"/>
              </a:rPr>
              <a:t>Explainable Sports Category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 i="0">
                <a:solidFill>
                  <a:srgbClr val="213952"/>
                </a:solidFill>
                <a:latin typeface="Calibri Light"/>
              </a:rP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34760"/>
                </a:solidFill>
                <a:latin typeface="Calibri"/>
              </a:rPr>
              <a:t>CNN transfer learning with Grad-CAM &amp; SHAP — 100-class image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566928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Arda Tekin Tezel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374"/>
                </a:solidFill>
                <a:latin typeface="Calibri"/>
              </a:rPr>
              <a:t>Machine Learning &amp; Smart Systems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374"/>
                </a:solidFill>
                <a:latin typeface="Calibri"/>
              </a:rPr>
              <a:t>University of Europe for Applied Sciences, Potsdam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846320"/>
            <a:ext cx="45720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56374"/>
                </a:solidFill>
                <a:latin typeface="Calibri"/>
              </a:rPr>
              <a:t>Final Project — Phase III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56374"/>
                </a:solidFill>
                <a:latin typeface="Calibri"/>
              </a:rPr>
              <a:t>100-class image classification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3952"/>
                </a:solidFill>
                <a:latin typeface="Calibri"/>
              </a:rPr>
              <a:t>Custom CNN  ·  EfficientNetV2-B0  ·  ConvNeXt-Tiny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Why classify sports images — and why explain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Accuracy alone is not enough for a trustworthy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090672" cy="19293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Scale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Sports media platforms and archives hold millions of images that must be tagged by sport for search, indexing, and broadcast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74519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75688"/>
            <a:ext cx="3090672" cy="19293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Manual tagging fails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Hand-labelling across 100+ categories is slow, costly, and inconsistent — it simply does not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874519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75688"/>
            <a:ext cx="3090672" cy="19293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Explainability is essential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A model can be right for the wrong reasons. We must verify it looks at the athlete and equipment, not the background.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10908792" cy="12344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727448"/>
            <a:ext cx="10506456" cy="8321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3952"/>
                </a:solidFill>
                <a:latin typeface="Calibri"/>
              </a:rPr>
              <a:t>🎯  Goal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3952"/>
                </a:solidFill>
                <a:latin typeface="Calibri"/>
              </a:rPr>
              <a:t>An accurate AND interpretable 100-class sports classifier, deployed as a live web demo whose every decision can be inspected with Grad-CAM and SHAP.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DATA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100 Sports Image Classification (Kaggle, gpiosenka)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From raw images to a model-ready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93008" cy="1874519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090672" cy="1472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100 classes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~14,500 RGB images spanning 100 sports, from air hockey to wingsuit flying.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74519"/>
            <a:ext cx="3493008" cy="1874519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75688"/>
            <a:ext cx="3090672" cy="1472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Fixed splits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13,493 train / 500 validation / 500 test, all standardised to 224 x 224 x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874519"/>
            <a:ext cx="3493008" cy="1874519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75688"/>
            <a:ext cx="3090672" cy="14721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Augmentation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Horizontal flip, small rotation, zoom and contrast — applied to the training set only.</a:t>
            </a:r>
          </a:p>
        </p:txBody>
      </p:sp>
      <p:pic>
        <p:nvPicPr>
          <p:cNvPr id="13" name="Picture 12" descr="sampl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59" y="3977639"/>
            <a:ext cx="3434080" cy="2377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373367"/>
            <a:ext cx="5349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374"/>
                </a:solidFill>
                <a:latin typeface="Calibri"/>
              </a:rPr>
              <a:t>Sample images (one per class)</a:t>
            </a:r>
          </a:p>
        </p:txBody>
      </p:sp>
      <p:pic>
        <p:nvPicPr>
          <p:cNvPr id="15" name="Picture 14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4274820"/>
            <a:ext cx="5349240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99632" y="6373367"/>
            <a:ext cx="5349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374"/>
                </a:solidFill>
                <a:latin typeface="Calibri"/>
              </a:rPr>
              <a:t>Class distribution — near-balanced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Five questions guide 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From model choice to a deployable, explainable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51560" cy="713232"/>
          </a:xfrm>
          <a:prstGeom prst="roundRect">
            <a:avLst>
              <a:gd name="adj" fmla="val 8000"/>
            </a:avLst>
          </a:prstGeom>
          <a:solidFill>
            <a:srgbClr val="213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515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920240"/>
            <a:ext cx="9601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Which architecture classifies 100 sports most accurately?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1051560" cy="713232"/>
          </a:xfrm>
          <a:prstGeom prst="roundRect">
            <a:avLst>
              <a:gd name="adj" fmla="val 8000"/>
            </a:avLst>
          </a:prstGeom>
          <a:solidFill>
            <a:srgbClr val="213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515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788920"/>
            <a:ext cx="9601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Does ImageNet transfer learning beat a custom CNN trained from scratch?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051560" cy="713232"/>
          </a:xfrm>
          <a:prstGeom prst="roundRect">
            <a:avLst>
              <a:gd name="adj" fmla="val 8000"/>
            </a:avLst>
          </a:prstGeom>
          <a:solidFill>
            <a:srgbClr val="213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10515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57600"/>
            <a:ext cx="9601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Do Grad-CAM and SHAP show the model attends to athletes and equipment, not the background?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1051560" cy="713232"/>
          </a:xfrm>
          <a:prstGeom prst="roundRect">
            <a:avLst>
              <a:gd name="adj" fmla="val 8000"/>
            </a:avLst>
          </a:prstGeom>
          <a:solidFill>
            <a:srgbClr val="213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10515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526280"/>
            <a:ext cx="9601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Which model gives the best accuracy / speed / size trade-off?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94960"/>
            <a:ext cx="1051560" cy="713232"/>
          </a:xfrm>
          <a:prstGeom prst="roundRect">
            <a:avLst>
              <a:gd name="adj" fmla="val 8000"/>
            </a:avLst>
          </a:prstGeom>
          <a:solidFill>
            <a:srgbClr val="213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105156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RQ5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394960"/>
            <a:ext cx="9601200" cy="7132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Can the best model be deployed as a working, explainable web demo?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From raw images to an explainable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A single, reproducible pipeline (seed 42)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23" y="1828800"/>
            <a:ext cx="8373704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Three architectures, one classification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A lightweight baseline versus two pretrained backbones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93008" cy="278892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21408"/>
            <a:ext cx="3090672" cy="23865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6FD6"/>
                </a:solidFill>
                <a:latin typeface="Calibri"/>
              </a:rPr>
              <a:t>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Custom CNN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From scratch; 4 convolutional blocks (32 -&gt; 256).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BatchNorm + MaxPool; global average pooling.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~0.48M parameters; lightweight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920240"/>
            <a:ext cx="3493008" cy="278892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121408"/>
            <a:ext cx="3090672" cy="23865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6FD6"/>
                </a:solidFill>
                <a:latin typeface="Calibri"/>
              </a:rPr>
              <a:t>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EfficientNetV2-B0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ImageNet pretrained; transfer learning.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Two-phase fine-tuning; ~6.0M parameters.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Efficiency-focused; best trade-off.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920240"/>
            <a:ext cx="3493008" cy="278892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21408"/>
            <a:ext cx="3090672" cy="23865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6FD6"/>
                </a:solidFill>
                <a:latin typeface="Calibri"/>
              </a:rPr>
              <a:t>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ConvNeXt-Tiny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ImageNet pretrained; modern ConvNet.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Two-phase fine-tuning; ~27.9M parameters.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Highest capacity and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5230368"/>
            <a:ext cx="10506456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3952"/>
                </a:solidFill>
                <a:latin typeface="Calibri"/>
              </a:rPr>
              <a:t>All trained with Adam, sparse categorical cross-entropy, early stopping and LR-reduction on plateau. Two-stage transfer: freeze the backbone to train the head, then fine-tune the top ~30%.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TRAINING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Convergence and overfitting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Accuracy and loss, training versus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06504"/>
            <a:ext cx="6766560" cy="2342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2103120"/>
            <a:ext cx="393192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What the curves show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All models converge within the epoch budget.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Early stopping restores the best validation weights.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The small train–validation gap shows augmentation kept overfitting under control.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Transfer-learning models start higher and plateau sooner than the from-scratch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RESULTS —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Accuracy, and the cost of chasing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Headline metrics on the 500-image held-out test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0879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662"/>
                <a:gridCol w="1426888"/>
                <a:gridCol w="1426888"/>
                <a:gridCol w="1196745"/>
                <a:gridCol w="1334831"/>
                <a:gridCol w="1334831"/>
                <a:gridCol w="1518945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21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21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>
                    <a:solidFill>
                      <a:srgbClr val="21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Top-3</a:t>
                      </a:r>
                    </a:p>
                  </a:txBody>
                  <a:tcPr anchor="ctr">
                    <a:solidFill>
                      <a:srgbClr val="21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>
                    <a:solidFill>
                      <a:srgbClr val="21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anchor="ctr">
                    <a:solidFill>
                      <a:srgbClr val="2139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anchor="ctr">
                    <a:solidFill>
                      <a:srgbClr val="21395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Custom CNN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0.472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0.429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0.48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1.9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0.6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EfficientNetV2-B0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6.05 M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24 MB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9.6 ms</a:t>
                      </a:r>
                    </a:p>
                  </a:txBody>
                  <a:tcPr anchor="ctr">
                    <a:solidFill>
                      <a:srgbClr val="EEF4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213952"/>
                          </a:solidFill>
                          <a:latin typeface="Calibri"/>
                        </a:rPr>
                        <a:t>ConvNeXt-Tiny 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213952"/>
                          </a:solidFill>
                          <a:latin typeface="Calibri"/>
                        </a:rPr>
                        <a:t>0.964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13952"/>
                          </a:solidFill>
                          <a:latin typeface="Calibri"/>
                        </a:rPr>
                        <a:t>0.963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13952"/>
                          </a:solidFill>
                          <a:latin typeface="Calibri"/>
                        </a:rPr>
                        <a:t>0.994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13952"/>
                          </a:solidFill>
                          <a:latin typeface="Calibri"/>
                        </a:rPr>
                        <a:t>27.9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13952"/>
                          </a:solidFill>
                          <a:latin typeface="Calibri"/>
                        </a:rPr>
                        <a:t>112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213952"/>
                          </a:solidFill>
                          <a:latin typeface="Calibri"/>
                        </a:rPr>
                        <a:t>113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43484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4636007"/>
            <a:ext cx="4946903" cy="10607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  Transfer learning wins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Both pretrained backbones beat the from-scratch baseline by roughly 49 accuracy points (96% vs 47%), answering RQ1 and RQ2.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43484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36007"/>
            <a:ext cx="4946903" cy="10607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3952"/>
                </a:solidFill>
                <a:latin typeface="Calibri"/>
              </a:rPr>
              <a:t>⚡  Efficiency matters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3952"/>
                </a:solidFill>
                <a:latin typeface="Calibri"/>
              </a:rPr>
              <a:t>ConvNeXt-Tiny is the most accurate; EfficientNetV2-B0 matches it within 0.2 points at about one-fifth the size and one-twelfth the latency — the best efficiency trade-off (RQ4).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CLASS-LEVEL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Where the mistakes 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A 100 x 100 confusion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910" y="1874519"/>
            <a:ext cx="47320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2103120"/>
            <a:ext cx="411480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Reading the errors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A strong diagonal: most classes are recognised reliably.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Errors concentrate between visually similar sports — e.g. horseshoe pitching vs frisbee, baton twirling vs javelin.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Distinctive-scene sports (e.g. wingsuit flying, wheelchair racing, weightlifting) score a perfect F1 of 1.0.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2A37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F2A37"/>
                </a:solidFill>
                <a:latin typeface="Calibri"/>
              </a:rPr>
              <a:t>This pattern is exactly what explainability then probes (RQ3).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Does the model look at the right thing?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Two independent methods: Grad-CAM and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99854"/>
            <a:ext cx="5349240" cy="22925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636007"/>
            <a:ext cx="5349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374"/>
                </a:solidFill>
                <a:latin typeface="Calibri"/>
              </a:rPr>
              <a:t>Grad-CAM — class activation heatmaps</a:t>
            </a:r>
          </a:p>
        </p:txBody>
      </p:sp>
      <p:pic>
        <p:nvPicPr>
          <p:cNvPr id="9" name="Picture 8" descr="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270" y="1874519"/>
            <a:ext cx="1817963" cy="27431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9632" y="4636007"/>
            <a:ext cx="5349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374"/>
                </a:solidFill>
                <a:latin typeface="Calibri"/>
              </a:rPr>
              <a:t>SHAP — pixel-level attributions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D9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276088"/>
            <a:ext cx="4946903" cy="8778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7A34"/>
                </a:solidFill>
                <a:latin typeface="Calibri"/>
              </a:rPr>
              <a:t>✓  Methods agree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7A34"/>
                </a:solidFill>
                <a:latin typeface="Calibri"/>
              </a:rPr>
              <a:t>Both methods are computed independently yet highlight the athlete, ball and playing area — strengthening trust that predictions use meaningful features (RQ3).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5074920"/>
            <a:ext cx="5349240" cy="1280160"/>
          </a:xfrm>
          <a:prstGeom prst="roundRect">
            <a:avLst>
              <a:gd name="adj" fmla="val 8000"/>
            </a:avLst>
          </a:prstGeom>
          <a:solidFill>
            <a:srgbClr val="F9D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276088"/>
            <a:ext cx="4946903" cy="8778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02A37"/>
                </a:solidFill>
                <a:latin typeface="Calibri"/>
              </a:rPr>
              <a:t>✕  But not always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02A37"/>
                </a:solidFill>
                <a:latin typeface="Calibri"/>
              </a:rPr>
              <a:t>On some errors the attention drifts to the background — a reliability warning that explainability surfaces and accuracy alone hides.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TRADE-OFF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Choosing for balance, not for the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Accuracy is only one axis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493008" cy="228600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21408"/>
            <a:ext cx="3090672" cy="18836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Custom CNN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1.9 MB · 0.6 ms.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Smallest and fastest by far — but only 47% accuracy, so not usable in practice.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920240"/>
            <a:ext cx="3493008" cy="2286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121408"/>
            <a:ext cx="3090672" cy="18836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EfficientNetV2-B0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24 MB · 9.6 ms.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Within 0.2 pts of the best accuracy at ~1/5 the size and ~1/12 the latency.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Best efficiency trade-off (recommended).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920240"/>
            <a:ext cx="3493008" cy="2286000"/>
          </a:xfrm>
          <a:prstGeom prst="roundRect">
            <a:avLst>
              <a:gd name="adj" fmla="val 8000"/>
            </a:avLst>
          </a:prstGeom>
          <a:solidFill>
            <a:srgbClr val="DD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21408"/>
            <a:ext cx="3090672" cy="18836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13952"/>
                </a:solidFill>
                <a:latin typeface="Calibri"/>
              </a:rPr>
              <a:t>ConvNeXt-Tiny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112 MB · 113 ms.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Highest accuracy (96.4%) but largest and slowest — deployed as the top-accuracy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10908792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727448"/>
            <a:ext cx="10506456" cy="9235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3952"/>
                </a:solidFill>
                <a:latin typeface="Calibri"/>
              </a:rPr>
              <a:t>🚀  Live, explainable web demo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3952"/>
                </a:solidFill>
                <a:latin typeface="Calibri"/>
              </a:rPr>
              <a:t>Deployed on Hugging Face Spaces with Gradio: upload an image and get the top-5 sports, confidence scores, and a live Grad-CAM heatmap — directly in the browser (RQ4 &amp; RQ5).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213952"/>
                </a:solidFill>
                <a:latin typeface="Calibri Light"/>
              </a:rPr>
              <a:t>Accuracy is necessary. Explanation makes it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49259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34760"/>
                </a:solidFill>
                <a:latin typeface="Calibri"/>
              </a:rPr>
              <a:t>What the study established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640080" y="1947672"/>
            <a:ext cx="640080" cy="384048"/>
          </a:xfrm>
          <a:prstGeom prst="rightArrow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1005840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3952"/>
                </a:solidFill>
                <a:latin typeface="Calibri"/>
              </a:rPr>
              <a:t>Strong results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The pretrained CNNs classify 100 sports well; the best (ConvNeXt-Tiny) reaches 96.4% test accuracy.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0080" y="2834639"/>
            <a:ext cx="640080" cy="384048"/>
          </a:xfrm>
          <a:prstGeom prst="rightArrow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761487"/>
            <a:ext cx="1005840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3952"/>
                </a:solidFill>
                <a:latin typeface="Calibri"/>
              </a:rPr>
              <a:t>Transfer learning wins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ImageNet pretraining beats the from-scratch baseline by ~49 points — 96% vs 47% (RQ1, RQ2).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0080" y="3721607"/>
            <a:ext cx="640080" cy="384048"/>
          </a:xfrm>
          <a:prstGeom prst="rightArrow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48455"/>
            <a:ext cx="1005840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3952"/>
                </a:solidFill>
                <a:latin typeface="Calibri"/>
              </a:rPr>
              <a:t>Explanations validated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Grad-CAM and SHAP confirm focus on athletes and equipment — and expose occasional background reliance (RQ3).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40080" y="4608575"/>
            <a:ext cx="640080" cy="384048"/>
          </a:xfrm>
          <a:prstGeom prst="rightArrow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35423"/>
            <a:ext cx="1005840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13952"/>
                </a:solidFill>
                <a:latin typeface="Calibri"/>
              </a:rPr>
              <a:t>Deployed prototype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ConvNeXt-Tiny deployed as an explainable web demo; EfficientNetV2-B0 recommended for efficient deployment (RQ4, RQ5).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86400"/>
            <a:ext cx="10908792" cy="1097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687568"/>
            <a:ext cx="10506456" cy="6949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3952"/>
                </a:solidFill>
                <a:latin typeface="Calibri"/>
              </a:rPr>
              <a:t>🔭  Limitations &amp; future 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3952"/>
                </a:solidFill>
                <a:latin typeface="Calibri"/>
              </a:rPr>
              <a:t>Single public dataset, no external validation, and heatmaps are not proof of correct reasoning. Future work: add diverse external data and reduce background-shortcut behaviour.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