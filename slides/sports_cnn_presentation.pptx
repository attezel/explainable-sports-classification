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Title slide. Introduce yourself, the topic (12.4), and the three models. ~20s.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Motivate the task and stress why explainability matters for trust. ~40s.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Describe the dataset and preprocessing. Point to the sample grid and the near-balanced distribution. ~40s. ⚠ Replace the two figure placeholders with sample_grid.png and class_distribution.png from results.zip before recording.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five research questions; they structure the whole talk. ~35s.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left to right through the pipeline: data -&gt; preprocess/augment -&gt; 3 models -&gt; evaluate -&gt; Grad-CAM/SHAP -&gt; deploy. Everything is seeded for reproducibility. ~45s.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Contrast the from-scratch baseline with the two transfer-learning models and the two-stage protocol. ~40s.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training curves: convergence, early stopping, and the train-val gap as an overfitting check. ~35s. ⚠ Replace the figure placeholder with training_curves.png from results.zip before recording.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⚠ PLACEHOLDER NUMBERS — replace with your real Kaggle results before recording. After the run, set the ✓ on whichever model gives the best accuracy/size/speed balance and update every number in this table. ~50s.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the confusion matrix to name the hardest, most-confused sports and the easiest ones. ~35s. ⚠ Replace the figure placeholder with confusion_matrix.png from results.zip before recording.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Grad-CAM and SHAP agree on correct cases and expose background reliance on wrong ones. ~45s. ⚠ Replace the two figure placeholders with gradcam.png and shap.png from results.zip before recording.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Argue for balance over raw accuracy; introduce the live demo (you will show it in the 2-min demo part). ~40s. ⚠ Size/latency numbers are placeholders — replace with real Kaggle results before recording.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Summarise the four takeaways, state limitations honestly, and thank the audience. ~40s. ⚠ The ~91% headline is a placeholder — replace with your real best-model accuracy before recording.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2139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3272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2C7A7B"/>
                </a:solidFill>
                <a:latin typeface="Calibri"/>
              </a:rPr>
              <a:t>MACHINE LEARNING &amp; SMART SYSTEMS  ·  TOPIC 12.4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874519"/>
            <a:ext cx="10515600" cy="20116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600" b="1" i="0">
                <a:solidFill>
                  <a:srgbClr val="213952"/>
                </a:solidFill>
                <a:latin typeface="Calibri Light"/>
              </a:rPr>
              <a:t>Explainable Sports Category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4600" b="1" i="0">
                <a:solidFill>
                  <a:srgbClr val="213952"/>
                </a:solidFill>
                <a:latin typeface="Calibri Light"/>
              </a:rPr>
              <a:t>Classification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703320"/>
            <a:ext cx="1033272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334760"/>
                </a:solidFill>
                <a:latin typeface="Calibri"/>
              </a:rPr>
              <a:t>CNN transfer learning with Grad-CAM &amp; SHAP — 100-class image recognition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846320"/>
            <a:ext cx="5669280" cy="1463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1F2A37"/>
                </a:solidFill>
                <a:latin typeface="Calibri"/>
              </a:rPr>
              <a:t>Arda Tekin Tezel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56374"/>
                </a:solidFill>
                <a:latin typeface="Calibri"/>
              </a:rPr>
              <a:t>Machine Learning &amp; Smart Systems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56374"/>
                </a:solidFill>
                <a:latin typeface="Calibri"/>
              </a:rPr>
              <a:t>University of Europe for Applied Sciences, Potsdam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4846320"/>
            <a:ext cx="4572000" cy="1463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556374"/>
                </a:solidFill>
                <a:latin typeface="Calibri"/>
              </a:rPr>
              <a:t>Final Project — Phase III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556374"/>
                </a:solidFill>
                <a:latin typeface="Calibri"/>
              </a:rPr>
              <a:t>100-class image classification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13952"/>
                </a:solidFill>
                <a:latin typeface="Calibri"/>
              </a:rPr>
              <a:t>Custom CNN  ·  EfficientNetV2-B0  ·  ConvNeXt-Tiny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C7A7B"/>
                </a:solidFill>
                <a:latin typeface="Calibri"/>
              </a:rPr>
              <a:t>PROBLEM &amp; 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213952"/>
                </a:solidFill>
                <a:latin typeface="Calibri Light"/>
              </a:rPr>
              <a:t>Why classify sports images — and why explain it?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49259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334760"/>
                </a:solidFill>
                <a:latin typeface="Calibri"/>
              </a:rPr>
              <a:t>Accuracy alone is not enough for a trustworthy system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91056"/>
            <a:ext cx="10908792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874519"/>
            <a:ext cx="3493008" cy="2331720"/>
          </a:xfrm>
          <a:prstGeom prst="roundRect">
            <a:avLst>
              <a:gd name="adj" fmla="val 8000"/>
            </a:avLst>
          </a:prstGeom>
          <a:solidFill>
            <a:srgbClr val="DDE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2075688"/>
            <a:ext cx="3090672" cy="19293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13952"/>
                </a:solidFill>
                <a:latin typeface="Calibri"/>
              </a:rPr>
              <a:t>Scale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Sports media platforms and archives hold millions of images that must be tagged by sport for search, indexing, and broadcast analytics.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34256" y="1874519"/>
            <a:ext cx="3493008" cy="2331720"/>
          </a:xfrm>
          <a:prstGeom prst="roundRect">
            <a:avLst>
              <a:gd name="adj" fmla="val 8000"/>
            </a:avLst>
          </a:prstGeom>
          <a:solidFill>
            <a:srgbClr val="DDE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424" y="2075688"/>
            <a:ext cx="3090672" cy="19293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13952"/>
                </a:solidFill>
                <a:latin typeface="Calibri"/>
              </a:rPr>
              <a:t>Manual tagging fails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Hand-labelling across 100+ categories is slow, costly, and inconsistent — it simply does not scale.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28431" y="1874519"/>
            <a:ext cx="3493008" cy="2331720"/>
          </a:xfrm>
          <a:prstGeom prst="roundRect">
            <a:avLst>
              <a:gd name="adj" fmla="val 8000"/>
            </a:avLst>
          </a:prstGeom>
          <a:solidFill>
            <a:srgbClr val="DDE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2075688"/>
            <a:ext cx="3090672" cy="19293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13952"/>
                </a:solidFill>
                <a:latin typeface="Calibri"/>
              </a:rPr>
              <a:t>Explainability is essential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A model can be right for the wrong reasons. We must verify it looks at the athlete and equipment, not the background.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526280"/>
            <a:ext cx="10908792" cy="1234440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4727448"/>
            <a:ext cx="10506456" cy="832104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13952"/>
                </a:solidFill>
                <a:latin typeface="Calibri"/>
              </a:rPr>
              <a:t>🎯  Goal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213952"/>
                </a:solidFill>
                <a:latin typeface="Calibri"/>
              </a:rPr>
              <a:t>An accurate AND interpretable 100-class sports classifier, deployed as a live web demo whose every decision can be inspected with Grad-CAM and SHAP.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C7A7B"/>
                </a:solidFill>
                <a:latin typeface="Calibri"/>
              </a:rPr>
              <a:t>DATA &amp; PREPROCESSING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213952"/>
                </a:solidFill>
                <a:latin typeface="Calibri Light"/>
              </a:rPr>
              <a:t>100 Sports Image Classification (Kaggle, gpiosenka)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49259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334760"/>
                </a:solidFill>
                <a:latin typeface="Calibri"/>
              </a:rPr>
              <a:t>From raw images to a model-ready pipeline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91056"/>
            <a:ext cx="10908792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874519"/>
            <a:ext cx="3493008" cy="1874519"/>
          </a:xfrm>
          <a:prstGeom prst="roundRect">
            <a:avLst>
              <a:gd name="adj" fmla="val 8000"/>
            </a:avLst>
          </a:prstGeom>
          <a:solidFill>
            <a:srgbClr val="DDE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2075688"/>
            <a:ext cx="3090672" cy="1472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13952"/>
                </a:solidFill>
                <a:latin typeface="Calibri"/>
              </a:rPr>
              <a:t>100 classes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~14,500 RGB images spanning 100 sports, from air hockey to wingsuit flying.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34256" y="1874519"/>
            <a:ext cx="3493008" cy="1874519"/>
          </a:xfrm>
          <a:prstGeom prst="roundRect">
            <a:avLst>
              <a:gd name="adj" fmla="val 8000"/>
            </a:avLst>
          </a:prstGeom>
          <a:solidFill>
            <a:srgbClr val="DDE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424" y="2075688"/>
            <a:ext cx="3090672" cy="1472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13952"/>
                </a:solidFill>
                <a:latin typeface="Calibri"/>
              </a:rPr>
              <a:t>Fixed splits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13,493 train / 500 validation / 500 test, all standardised to 224 x 224 x 3.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28431" y="1874519"/>
            <a:ext cx="3493008" cy="1874519"/>
          </a:xfrm>
          <a:prstGeom prst="roundRect">
            <a:avLst>
              <a:gd name="adj" fmla="val 8000"/>
            </a:avLst>
          </a:prstGeom>
          <a:solidFill>
            <a:srgbClr val="DDE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2075688"/>
            <a:ext cx="3090672" cy="1472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13952"/>
                </a:solidFill>
                <a:latin typeface="Calibri"/>
              </a:rPr>
              <a:t>Augmentation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Horizontal flip, small rotation, zoom and contrast — applied to the training set only.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977639"/>
            <a:ext cx="5349240" cy="2377440"/>
          </a:xfrm>
          <a:prstGeom prst="roundRect">
            <a:avLst>
              <a:gd name="adj" fmla="val 3000"/>
            </a:avLst>
          </a:prstGeom>
          <a:solidFill>
            <a:srgbClr val="F1F4F8"/>
          </a:solidFill>
          <a:ln w="15875">
            <a:solidFill>
              <a:srgbClr val="B6C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977639"/>
            <a:ext cx="5349240" cy="23774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556374"/>
                </a:solidFill>
                <a:latin typeface="Calibri"/>
              </a:rPr>
              <a:t>🖼  sample_grid.png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556374"/>
                </a:solidFill>
                <a:latin typeface="Calibri"/>
              </a:rPr>
              <a:t>paste from results.zip (Kaggle run)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373367"/>
            <a:ext cx="534924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556374"/>
                </a:solidFill>
                <a:latin typeface="Calibri"/>
              </a:rPr>
              <a:t>Sample images (one per class)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99632" y="3977639"/>
            <a:ext cx="5349240" cy="2377440"/>
          </a:xfrm>
          <a:prstGeom prst="roundRect">
            <a:avLst>
              <a:gd name="adj" fmla="val 3000"/>
            </a:avLst>
          </a:prstGeom>
          <a:solidFill>
            <a:srgbClr val="F1F4F8"/>
          </a:solidFill>
          <a:ln w="15875">
            <a:solidFill>
              <a:srgbClr val="B6C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99632" y="3977639"/>
            <a:ext cx="5349240" cy="23774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556374"/>
                </a:solidFill>
                <a:latin typeface="Calibri"/>
              </a:rPr>
              <a:t>🖼  class_distribution.png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556374"/>
                </a:solidFill>
                <a:latin typeface="Calibri"/>
              </a:rPr>
              <a:t>paste from results.zip (Kaggle run)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99632" y="6373367"/>
            <a:ext cx="534924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556374"/>
                </a:solidFill>
                <a:latin typeface="Calibri"/>
              </a:rPr>
              <a:t>Class distribution — near-balanced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C7A7B"/>
                </a:solidFill>
                <a:latin typeface="Calibri"/>
              </a:rPr>
              <a:t>RESEARCH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213952"/>
                </a:solidFill>
                <a:latin typeface="Calibri Light"/>
              </a:rPr>
              <a:t>Five questions guide the study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49259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334760"/>
                </a:solidFill>
                <a:latin typeface="Calibri"/>
              </a:rPr>
              <a:t>From model choice to a deployable, explainable prototype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91056"/>
            <a:ext cx="10908792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920240"/>
            <a:ext cx="1051560" cy="713232"/>
          </a:xfrm>
          <a:prstGeom prst="roundRect">
            <a:avLst>
              <a:gd name="adj" fmla="val 8000"/>
            </a:avLst>
          </a:prstGeom>
          <a:solidFill>
            <a:srgbClr val="2139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920240"/>
            <a:ext cx="1051560" cy="71323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RQ1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920240"/>
            <a:ext cx="9601200" cy="71323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F2A37"/>
                </a:solidFill>
                <a:latin typeface="Calibri"/>
              </a:rPr>
              <a:t>Which architecture classifies 100 sports most accurately?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788920"/>
            <a:ext cx="1051560" cy="713232"/>
          </a:xfrm>
          <a:prstGeom prst="roundRect">
            <a:avLst>
              <a:gd name="adj" fmla="val 8000"/>
            </a:avLst>
          </a:prstGeom>
          <a:solidFill>
            <a:srgbClr val="2139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788920"/>
            <a:ext cx="1051560" cy="71323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RQ2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788920"/>
            <a:ext cx="9601200" cy="71323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F2A37"/>
                </a:solidFill>
                <a:latin typeface="Calibri"/>
              </a:rPr>
              <a:t>Does ImageNet transfer learning beat a custom CNN trained from scratch?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657600"/>
            <a:ext cx="1051560" cy="713232"/>
          </a:xfrm>
          <a:prstGeom prst="roundRect">
            <a:avLst>
              <a:gd name="adj" fmla="val 8000"/>
            </a:avLst>
          </a:prstGeom>
          <a:solidFill>
            <a:srgbClr val="2139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657600"/>
            <a:ext cx="1051560" cy="71323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RQ3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657600"/>
            <a:ext cx="9601200" cy="71323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F2A37"/>
                </a:solidFill>
                <a:latin typeface="Calibri"/>
              </a:rPr>
              <a:t>Do Grad-CAM and SHAP show the model attends to athletes and equipment, not the background?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526280"/>
            <a:ext cx="1051560" cy="713232"/>
          </a:xfrm>
          <a:prstGeom prst="roundRect">
            <a:avLst>
              <a:gd name="adj" fmla="val 8000"/>
            </a:avLst>
          </a:prstGeom>
          <a:solidFill>
            <a:srgbClr val="2139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4526280"/>
            <a:ext cx="1051560" cy="71323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RQ4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4526280"/>
            <a:ext cx="9601200" cy="71323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F2A37"/>
                </a:solidFill>
                <a:latin typeface="Calibri"/>
              </a:rPr>
              <a:t>Which model gives the best accuracy / speed / size trade-off?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394960"/>
            <a:ext cx="1051560" cy="713232"/>
          </a:xfrm>
          <a:prstGeom prst="roundRect">
            <a:avLst>
              <a:gd name="adj" fmla="val 8000"/>
            </a:avLst>
          </a:prstGeom>
          <a:solidFill>
            <a:srgbClr val="2139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5394960"/>
            <a:ext cx="1051560" cy="71323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RQ5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74519" y="5394960"/>
            <a:ext cx="9601200" cy="71323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F2A37"/>
                </a:solidFill>
                <a:latin typeface="Calibri"/>
              </a:rPr>
              <a:t>Can the best model be deployed as a working, explainable web demo?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C7A7B"/>
                </a:solidFill>
                <a:latin typeface="Calibri"/>
              </a:rPr>
              <a:t>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213952"/>
                </a:solidFill>
                <a:latin typeface="Calibri Light"/>
              </a:rPr>
              <a:t>From raw images to an explainable web 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49259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334760"/>
                </a:solidFill>
                <a:latin typeface="Calibri"/>
              </a:rPr>
              <a:t>A single, reproducible pipeline (seed 42)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91056"/>
            <a:ext cx="10908792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7623" y="1828800"/>
            <a:ext cx="8373704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C7A7B"/>
                </a:solidFill>
                <a:latin typeface="Calibri"/>
              </a:rPr>
              <a:t>MODELS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213952"/>
                </a:solidFill>
                <a:latin typeface="Calibri Light"/>
              </a:rPr>
              <a:t>Three architectures, one classification task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49259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334760"/>
                </a:solidFill>
                <a:latin typeface="Calibri"/>
              </a:rPr>
              <a:t>A lightweight baseline versus two pretrained backbones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91056"/>
            <a:ext cx="10908792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920240"/>
            <a:ext cx="3493008" cy="2788920"/>
          </a:xfrm>
          <a:prstGeom prst="roundRect">
            <a:avLst>
              <a:gd name="adj" fmla="val 8000"/>
            </a:avLst>
          </a:prstGeom>
          <a:solidFill>
            <a:srgbClr val="DDE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2121408"/>
            <a:ext cx="3090672" cy="23865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2F6FD6"/>
                </a:solidFill>
                <a:latin typeface="Calibri"/>
              </a:rPr>
              <a:t>1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13952"/>
                </a:solidFill>
                <a:latin typeface="Calibri"/>
              </a:rPr>
              <a:t>Custom CNN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From scratch; 4 convolutional blocks (32 -&gt; 256).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BatchNorm + MaxPool; global average pooling.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~4.0M parameters; lightweight baseline.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34256" y="1920240"/>
            <a:ext cx="3493008" cy="2788920"/>
          </a:xfrm>
          <a:prstGeom prst="roundRect">
            <a:avLst>
              <a:gd name="adj" fmla="val 8000"/>
            </a:avLst>
          </a:prstGeom>
          <a:solidFill>
            <a:srgbClr val="DDE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424" y="2121408"/>
            <a:ext cx="3090672" cy="23865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2F6FD6"/>
                </a:solidFill>
                <a:latin typeface="Calibri"/>
              </a:rPr>
              <a:t>2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13952"/>
                </a:solidFill>
                <a:latin typeface="Calibri"/>
              </a:rPr>
              <a:t>EfficientNetV2-B0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ImageNet pretrained; transfer learning.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Two-phase fine-tuning; ~7.1M parameters.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Efficiency-focused.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28431" y="1920240"/>
            <a:ext cx="3493008" cy="2788920"/>
          </a:xfrm>
          <a:prstGeom prst="roundRect">
            <a:avLst>
              <a:gd name="adj" fmla="val 8000"/>
            </a:avLst>
          </a:prstGeom>
          <a:solidFill>
            <a:srgbClr val="DDE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2121408"/>
            <a:ext cx="3090672" cy="23865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2F6FD6"/>
                </a:solidFill>
                <a:latin typeface="Calibri"/>
              </a:rPr>
              <a:t>3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13952"/>
                </a:solidFill>
                <a:latin typeface="Calibri"/>
              </a:rPr>
              <a:t>ConvNeXt-Tiny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ImageNet pretrained; modern ConvNet.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Two-phase fine-tuning; ~28.6M parameters.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Highest capacity.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5029200"/>
            <a:ext cx="10908792" cy="914400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5230368"/>
            <a:ext cx="10506456" cy="512064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213952"/>
                </a:solidFill>
                <a:latin typeface="Calibri"/>
              </a:rPr>
              <a:t>All trained with Adam, sparse categorical cross-entropy, early stopping and LR-reduction on plateau. Two-stage transfer: freeze the backbone to train the head, then fine-tune the top ~30%.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C7A7B"/>
                </a:solidFill>
                <a:latin typeface="Calibri"/>
              </a:rPr>
              <a:t>TRAINING BEHAVIOUR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213952"/>
                </a:solidFill>
                <a:latin typeface="Calibri Light"/>
              </a:rPr>
              <a:t>Convergence and overfitting control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49259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334760"/>
                </a:solidFill>
                <a:latin typeface="Calibri"/>
              </a:rPr>
              <a:t>Accuracy and loss, training versus validation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91056"/>
            <a:ext cx="10908792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874519"/>
            <a:ext cx="6766560" cy="4206240"/>
          </a:xfrm>
          <a:prstGeom prst="roundRect">
            <a:avLst>
              <a:gd name="adj" fmla="val 3000"/>
            </a:avLst>
          </a:prstGeom>
          <a:solidFill>
            <a:srgbClr val="F1F4F8"/>
          </a:solidFill>
          <a:ln w="15875">
            <a:solidFill>
              <a:srgbClr val="B6C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874519"/>
            <a:ext cx="6766560" cy="4206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556374"/>
                </a:solidFill>
                <a:latin typeface="Calibri"/>
              </a:rPr>
              <a:t>🖼  training_curves.png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556374"/>
                </a:solidFill>
                <a:latin typeface="Calibri"/>
              </a:rPr>
              <a:t>paste from results.zip (Kaggle run)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103120"/>
            <a:ext cx="3931920" cy="3840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1" i="0">
                <a:solidFill>
                  <a:srgbClr val="213952"/>
                </a:solidFill>
                <a:latin typeface="Calibri"/>
              </a:rPr>
              <a:t>What the curves show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1" i="0">
                <a:solidFill>
                  <a:srgbClr val="1F2A37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F2A37"/>
                </a:solidFill>
                <a:latin typeface="Calibri"/>
              </a:rPr>
              <a:t>All models converge within the epoch budget.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1" i="0">
                <a:solidFill>
                  <a:srgbClr val="1F2A37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F2A37"/>
                </a:solidFill>
                <a:latin typeface="Calibri"/>
              </a:rPr>
              <a:t>Early stopping restores the best validation weights.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1" i="0">
                <a:solidFill>
                  <a:srgbClr val="1F2A37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F2A37"/>
                </a:solidFill>
                <a:latin typeface="Calibri"/>
              </a:rPr>
              <a:t>The small train–validation gap shows augmentation kept overfitting under control.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1" i="0">
                <a:solidFill>
                  <a:srgbClr val="1F2A37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F2A37"/>
                </a:solidFill>
                <a:latin typeface="Calibri"/>
              </a:rPr>
              <a:t>Transfer-learning models start higher and plateau sooner than the from-scratch baseline.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C7A7B"/>
                </a:solidFill>
                <a:latin typeface="Calibri"/>
              </a:rPr>
              <a:t>RESULTS — TEST SET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213952"/>
                </a:solidFill>
                <a:latin typeface="Calibri Light"/>
              </a:rPr>
              <a:t>Accuracy, and the cost of chasing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49259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334760"/>
                </a:solidFill>
                <a:latin typeface="Calibri"/>
              </a:rPr>
              <a:t>Headline metrics on the 500-image held-out test set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91056"/>
            <a:ext cx="10908792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828800"/>
          <a:ext cx="10908790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9662"/>
                <a:gridCol w="1426888"/>
                <a:gridCol w="1426888"/>
                <a:gridCol w="1196745"/>
                <a:gridCol w="1334831"/>
                <a:gridCol w="1334831"/>
                <a:gridCol w="1518945"/>
              </a:tblGrid>
              <a:tr h="56007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anchor="ctr">
                    <a:solidFill>
                      <a:srgbClr val="2139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Accuracy</a:t>
                      </a:r>
                    </a:p>
                  </a:txBody>
                  <a:tcPr anchor="ctr">
                    <a:solidFill>
                      <a:srgbClr val="2139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Macro-F1</a:t>
                      </a:r>
                    </a:p>
                  </a:txBody>
                  <a:tcPr anchor="ctr">
                    <a:solidFill>
                      <a:srgbClr val="2139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Top-3</a:t>
                      </a:r>
                    </a:p>
                  </a:txBody>
                  <a:tcPr anchor="ctr">
                    <a:solidFill>
                      <a:srgbClr val="2139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Params</a:t>
                      </a:r>
                    </a:p>
                  </a:txBody>
                  <a:tcPr anchor="ctr">
                    <a:solidFill>
                      <a:srgbClr val="2139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Size</a:t>
                      </a:r>
                    </a:p>
                  </a:txBody>
                  <a:tcPr anchor="ctr">
                    <a:solidFill>
                      <a:srgbClr val="2139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Inference</a:t>
                      </a:r>
                    </a:p>
                  </a:txBody>
                  <a:tcPr anchor="ctr">
                    <a:solidFill>
                      <a:srgbClr val="213952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algn="l"/>
                      <a:r>
                        <a:rPr sz="1350" b="0" i="0">
                          <a:solidFill>
                            <a:srgbClr val="1F2A37"/>
                          </a:solidFill>
                          <a:latin typeface="Calibri"/>
                        </a:rPr>
                        <a:t>Custom CNN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A37"/>
                          </a:solidFill>
                          <a:latin typeface="Calibri"/>
                        </a:rPr>
                        <a:t>0.813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A37"/>
                          </a:solidFill>
                          <a:latin typeface="Calibri"/>
                        </a:rPr>
                        <a:t>0.796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A37"/>
                          </a:solidFill>
                          <a:latin typeface="Calibri"/>
                        </a:rPr>
                        <a:t>0.928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A37"/>
                          </a:solidFill>
                          <a:latin typeface="Calibri"/>
                        </a:rPr>
                        <a:t>4.0 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A37"/>
                          </a:solidFill>
                          <a:latin typeface="Calibri"/>
                        </a:rPr>
                        <a:t>16 MB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A37"/>
                          </a:solidFill>
                          <a:latin typeface="Calibri"/>
                        </a:rPr>
                        <a:t>31.5 ms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algn="l"/>
                      <a:r>
                        <a:rPr sz="1350" b="1" i="0">
                          <a:solidFill>
                            <a:srgbClr val="213952"/>
                          </a:solidFill>
                          <a:latin typeface="Calibri"/>
                        </a:rPr>
                        <a:t>EfficientNetV2-B0  ✓</a:t>
                      </a:r>
                    </a:p>
                  </a:txBody>
                  <a:tcPr anchor="ctr"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 i="0">
                          <a:solidFill>
                            <a:srgbClr val="213952"/>
                          </a:solidFill>
                          <a:latin typeface="Calibri"/>
                        </a:rPr>
                        <a:t>0.910</a:t>
                      </a:r>
                    </a:p>
                  </a:txBody>
                  <a:tcPr anchor="ctr"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213952"/>
                          </a:solidFill>
                          <a:latin typeface="Calibri"/>
                        </a:rPr>
                        <a:t>0.895</a:t>
                      </a:r>
                    </a:p>
                  </a:txBody>
                  <a:tcPr anchor="ctr"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213952"/>
                          </a:solidFill>
                          <a:latin typeface="Calibri"/>
                        </a:rPr>
                        <a:t>0.976</a:t>
                      </a:r>
                    </a:p>
                  </a:txBody>
                  <a:tcPr anchor="ctr"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213952"/>
                          </a:solidFill>
                          <a:latin typeface="Calibri"/>
                        </a:rPr>
                        <a:t>7.1 M</a:t>
                      </a:r>
                    </a:p>
                  </a:txBody>
                  <a:tcPr anchor="ctr"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213952"/>
                          </a:solidFill>
                          <a:latin typeface="Calibri"/>
                        </a:rPr>
                        <a:t>28 MB</a:t>
                      </a:r>
                    </a:p>
                  </a:txBody>
                  <a:tcPr anchor="ctr"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213952"/>
                          </a:solidFill>
                          <a:latin typeface="Calibri"/>
                        </a:rPr>
                        <a:t>20.4 ms</a:t>
                      </a:r>
                    </a:p>
                  </a:txBody>
                  <a:tcPr anchor="ctr">
                    <a:solidFill>
                      <a:srgbClr val="EEF4FB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algn="l"/>
                      <a:r>
                        <a:rPr sz="1350" b="0" i="0">
                          <a:solidFill>
                            <a:srgbClr val="1F2A37"/>
                          </a:solidFill>
                          <a:latin typeface="Calibri"/>
                        </a:rPr>
                        <a:t>ConvNeXt-Tiny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A37"/>
                          </a:solidFill>
                          <a:latin typeface="Calibri"/>
                        </a:rPr>
                        <a:t>0.891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A37"/>
                          </a:solidFill>
                          <a:latin typeface="Calibri"/>
                        </a:rPr>
                        <a:t>0.880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A37"/>
                          </a:solidFill>
                          <a:latin typeface="Calibri"/>
                        </a:rPr>
                        <a:t>0.965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A37"/>
                          </a:solidFill>
                          <a:latin typeface="Calibri"/>
                        </a:rPr>
                        <a:t>28.6 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A37"/>
                          </a:solidFill>
                          <a:latin typeface="Calibri"/>
                        </a:rPr>
                        <a:t>114 MB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A37"/>
                          </a:solidFill>
                          <a:latin typeface="Calibri"/>
                        </a:rPr>
                        <a:t>23.2 ms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40080" y="4434840"/>
            <a:ext cx="5349240" cy="1463040"/>
          </a:xfrm>
          <a:prstGeom prst="roundRect">
            <a:avLst>
              <a:gd name="adj" fmla="val 8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7" y="4636007"/>
            <a:ext cx="4946903" cy="1060704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✓  Transfer learning wins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Both pretrained backbones beat the from-scratch baseline by roughly 8–10 accuracy points, answering RQ1 and RQ2.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9632" y="4434840"/>
            <a:ext cx="5349240" cy="1463040"/>
          </a:xfrm>
          <a:prstGeom prst="roundRect">
            <a:avLst>
              <a:gd name="adj" fmla="val 8000"/>
            </a:avLst>
          </a:prstGeom>
          <a:solidFill>
            <a:srgbClr val="DDE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4636007"/>
            <a:ext cx="4946903" cy="1060704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13952"/>
                </a:solidFill>
                <a:latin typeface="Calibri"/>
              </a:rPr>
              <a:t>⚡  Efficiency matters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213952"/>
                </a:solidFill>
                <a:latin typeface="Calibri"/>
              </a:rPr>
              <a:t>EfficientNetV2-B0 delivers the highest accuracy AND the lowest latency at about a quarter of ConvNeXt-Tiny's size — the best balance for deployment (RQ4).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C7A7B"/>
                </a:solidFill>
                <a:latin typeface="Calibri"/>
              </a:rPr>
              <a:t>CLASS-LEVEL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213952"/>
                </a:solidFill>
                <a:latin typeface="Calibri Light"/>
              </a:rPr>
              <a:t>Where the mistakes land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49259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334760"/>
                </a:solidFill>
                <a:latin typeface="Calibri"/>
              </a:rPr>
              <a:t>A 100 x 100 confusion matrix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91056"/>
            <a:ext cx="10908792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874519"/>
            <a:ext cx="6583680" cy="4206240"/>
          </a:xfrm>
          <a:prstGeom prst="roundRect">
            <a:avLst>
              <a:gd name="adj" fmla="val 3000"/>
            </a:avLst>
          </a:prstGeom>
          <a:solidFill>
            <a:srgbClr val="F1F4F8"/>
          </a:solidFill>
          <a:ln w="15875">
            <a:solidFill>
              <a:srgbClr val="B6C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874519"/>
            <a:ext cx="6583680" cy="4206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556374"/>
                </a:solidFill>
                <a:latin typeface="Calibri"/>
              </a:rPr>
              <a:t>🖼  confusion_matrix.png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556374"/>
                </a:solidFill>
                <a:latin typeface="Calibri"/>
              </a:rPr>
              <a:t>paste from results.zip (Kaggle run)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52360" y="2103120"/>
            <a:ext cx="4114800" cy="3840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1" i="0">
                <a:solidFill>
                  <a:srgbClr val="213952"/>
                </a:solidFill>
                <a:latin typeface="Calibri"/>
              </a:rPr>
              <a:t>Reading the errors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1" i="0">
                <a:solidFill>
                  <a:srgbClr val="1F2A37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F2A37"/>
                </a:solidFill>
                <a:latin typeface="Calibri"/>
              </a:rPr>
              <a:t>A strong diagonal: most classes are recognised reliably.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1" i="0">
                <a:solidFill>
                  <a:srgbClr val="1F2A37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F2A37"/>
                </a:solidFill>
                <a:latin typeface="Calibri"/>
              </a:rPr>
              <a:t>Errors concentrate between visually similar sports — e.g. bowling vs bocce, or related racquet sports.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1" i="0">
                <a:solidFill>
                  <a:srgbClr val="1F2A37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F2A37"/>
                </a:solidFill>
                <a:latin typeface="Calibri"/>
              </a:rPr>
              <a:t>Distinctive-scene sports (e.g. swimming, motor racing) are near-perfect.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1" i="0">
                <a:solidFill>
                  <a:srgbClr val="1F2A37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F2A37"/>
                </a:solidFill>
                <a:latin typeface="Calibri"/>
              </a:rPr>
              <a:t>This pattern is exactly what explainability then probes (RQ3).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C7A7B"/>
                </a:solidFill>
                <a:latin typeface="Calibri"/>
              </a:rPr>
              <a:t>EXPLAINABILITY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213952"/>
                </a:solidFill>
                <a:latin typeface="Calibri Light"/>
              </a:rPr>
              <a:t>Does the model look at the right thing?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49259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334760"/>
                </a:solidFill>
                <a:latin typeface="Calibri"/>
              </a:rPr>
              <a:t>Two independent methods: Grad-CAM and SHAP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91056"/>
            <a:ext cx="10908792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874519"/>
            <a:ext cx="5349240" cy="2743200"/>
          </a:xfrm>
          <a:prstGeom prst="roundRect">
            <a:avLst>
              <a:gd name="adj" fmla="val 3000"/>
            </a:avLst>
          </a:prstGeom>
          <a:solidFill>
            <a:srgbClr val="F1F4F8"/>
          </a:solidFill>
          <a:ln w="15875">
            <a:solidFill>
              <a:srgbClr val="B6C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874519"/>
            <a:ext cx="5349240" cy="2743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556374"/>
                </a:solidFill>
                <a:latin typeface="Calibri"/>
              </a:rPr>
              <a:t>🖼  gradcam.png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556374"/>
                </a:solidFill>
                <a:latin typeface="Calibri"/>
              </a:rPr>
              <a:t>paste from results.zip (Kaggle run)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636007"/>
            <a:ext cx="534924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556374"/>
                </a:solidFill>
                <a:latin typeface="Calibri"/>
              </a:rPr>
              <a:t>Grad-CAM — class activation heatmaps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9632" y="1874519"/>
            <a:ext cx="5349240" cy="2743200"/>
          </a:xfrm>
          <a:prstGeom prst="roundRect">
            <a:avLst>
              <a:gd name="adj" fmla="val 3000"/>
            </a:avLst>
          </a:prstGeom>
          <a:solidFill>
            <a:srgbClr val="F1F4F8"/>
          </a:solidFill>
          <a:ln w="15875">
            <a:solidFill>
              <a:srgbClr val="B6C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99632" y="1874519"/>
            <a:ext cx="5349240" cy="2743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556374"/>
                </a:solidFill>
                <a:latin typeface="Calibri"/>
              </a:rPr>
              <a:t>🖼  shap.png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556374"/>
                </a:solidFill>
                <a:latin typeface="Calibri"/>
              </a:rPr>
              <a:t>paste from results.zip (Kaggle run)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99632" y="4636007"/>
            <a:ext cx="534924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556374"/>
                </a:solidFill>
                <a:latin typeface="Calibri"/>
              </a:rPr>
              <a:t>SHAP — pixel-level attributions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5074920"/>
            <a:ext cx="5349240" cy="1280160"/>
          </a:xfrm>
          <a:prstGeom prst="roundRect">
            <a:avLst>
              <a:gd name="adj" fmla="val 8000"/>
            </a:avLst>
          </a:prstGeom>
          <a:solidFill>
            <a:srgbClr val="D9F0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5276088"/>
            <a:ext cx="4946903" cy="877824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E7A34"/>
                </a:solidFill>
                <a:latin typeface="Calibri"/>
              </a:rPr>
              <a:t>✓  Methods agree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E7A34"/>
                </a:solidFill>
                <a:latin typeface="Calibri"/>
              </a:rPr>
              <a:t>Both methods are computed independently yet highlight the athlete, ball and playing area — strengthening trust that predictions use meaningful features (RQ3).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9632" y="5074920"/>
            <a:ext cx="5349240" cy="1280160"/>
          </a:xfrm>
          <a:prstGeom prst="roundRect">
            <a:avLst>
              <a:gd name="adj" fmla="val 8000"/>
            </a:avLst>
          </a:prstGeom>
          <a:solidFill>
            <a:srgbClr val="F9DA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5276088"/>
            <a:ext cx="4946903" cy="877824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B02A37"/>
                </a:solidFill>
                <a:latin typeface="Calibri"/>
              </a:rPr>
              <a:t>✕  But not always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B02A37"/>
                </a:solidFill>
                <a:latin typeface="Calibri"/>
              </a:rPr>
              <a:t>On some errors the attention drifts to the background — a reliability warning that explainability surfaces and accuracy alone hides.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C7A7B"/>
                </a:solidFill>
                <a:latin typeface="Calibri"/>
              </a:rPr>
              <a:t>TRADE-OFF &amp; DEPLOYMENT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213952"/>
                </a:solidFill>
                <a:latin typeface="Calibri Light"/>
              </a:rPr>
              <a:t>Choosing for balance, not for the leaderboard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49259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334760"/>
                </a:solidFill>
                <a:latin typeface="Calibri"/>
              </a:rPr>
              <a:t>Accuracy is only one axis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91056"/>
            <a:ext cx="10908792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920240"/>
            <a:ext cx="3493008" cy="2286000"/>
          </a:xfrm>
          <a:prstGeom prst="roundRect">
            <a:avLst>
              <a:gd name="adj" fmla="val 8000"/>
            </a:avLst>
          </a:prstGeom>
          <a:solidFill>
            <a:srgbClr val="DDE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2121408"/>
            <a:ext cx="3090672" cy="188366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13952"/>
                </a:solidFill>
                <a:latin typeface="Calibri"/>
              </a:rPr>
              <a:t>Custom CNN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16 MB · 31.5 ms.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Fewest parameters and smallest file — yet, counter-intuitively, the slowest at inference (architecture matters more than param count).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34256" y="1920240"/>
            <a:ext cx="3493008" cy="2286000"/>
          </a:xfrm>
          <a:prstGeom prst="roundRect">
            <a:avLst>
              <a:gd name="adj" fmla="val 8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424" y="2121408"/>
            <a:ext cx="3090672" cy="188366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EfficientNetV2-B0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28 MB · 20.4 ms.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Highest accuracy AND lowest latency.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Selected for deployment.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28431" y="1920240"/>
            <a:ext cx="3493008" cy="2286000"/>
          </a:xfrm>
          <a:prstGeom prst="roundRect">
            <a:avLst>
              <a:gd name="adj" fmla="val 8000"/>
            </a:avLst>
          </a:prstGeom>
          <a:solidFill>
            <a:srgbClr val="DDE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2121408"/>
            <a:ext cx="3090672" cy="188366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13952"/>
                </a:solidFill>
                <a:latin typeface="Calibri"/>
              </a:rPr>
              <a:t>ConvNeXt-Tiny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114 MB · 23.2 ms.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Highest capacity and largest footprint, for slightly lower accuracy.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526280"/>
            <a:ext cx="10908792" cy="1325880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4727448"/>
            <a:ext cx="10506456" cy="923544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13952"/>
                </a:solidFill>
                <a:latin typeface="Calibri"/>
              </a:rPr>
              <a:t>🚀  Live, explainable web demo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213952"/>
                </a:solidFill>
                <a:latin typeface="Calibri"/>
              </a:rPr>
              <a:t>Deployed on Hugging Face Spaces with Gradio: upload an image and get the top-5 sports, confidence scores, and a live Grad-CAM heatmap — directly in the browser (RQ4 &amp; RQ5).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C7A7B"/>
                </a:solidFill>
                <a:latin typeface="Calibri"/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213952"/>
                </a:solidFill>
                <a:latin typeface="Calibri Light"/>
              </a:rPr>
              <a:t>Accuracy is necessary. Explanation makes it trustworthy.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49259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334760"/>
                </a:solidFill>
                <a:latin typeface="Calibri"/>
              </a:rPr>
              <a:t>What the study established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91056"/>
            <a:ext cx="10908792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ight Arrow 6"/>
          <p:cNvSpPr/>
          <p:nvPr/>
        </p:nvSpPr>
        <p:spPr>
          <a:xfrm>
            <a:off x="640080" y="1947672"/>
            <a:ext cx="640080" cy="384048"/>
          </a:xfrm>
          <a:prstGeom prst="rightArrow">
            <a:avLst/>
          </a:prstGeom>
          <a:solidFill>
            <a:srgbClr val="2F6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63040" y="1874519"/>
            <a:ext cx="10058400" cy="8686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213952"/>
                </a:solidFill>
                <a:latin typeface="Calibri"/>
              </a:rPr>
              <a:t>Strong results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F2A37"/>
                </a:solidFill>
                <a:latin typeface="Calibri"/>
              </a:rPr>
              <a:t>All three CNNs classify 100 sports well; the best exceeds ~91% test accuracy.</a:t>
            </a:r>
          </a:p>
        </p:txBody>
      </p:sp>
      <p:sp>
        <p:nvSpPr>
          <p:cNvPr id="9" name="Right Arrow 8"/>
          <p:cNvSpPr/>
          <p:nvPr/>
        </p:nvSpPr>
        <p:spPr>
          <a:xfrm>
            <a:off x="640080" y="2834639"/>
            <a:ext cx="640080" cy="384048"/>
          </a:xfrm>
          <a:prstGeom prst="rightArrow">
            <a:avLst/>
          </a:prstGeom>
          <a:solidFill>
            <a:srgbClr val="2F6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63040" y="2761487"/>
            <a:ext cx="10058400" cy="8686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213952"/>
                </a:solidFill>
                <a:latin typeface="Calibri"/>
              </a:rPr>
              <a:t>Transfer learning wins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F2A37"/>
                </a:solidFill>
                <a:latin typeface="Calibri"/>
              </a:rPr>
              <a:t>ImageNet pretraining beats the from-scratch baseline by a wide margin (RQ1, RQ2).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640080" y="3721607"/>
            <a:ext cx="640080" cy="384048"/>
          </a:xfrm>
          <a:prstGeom prst="rightArrow">
            <a:avLst/>
          </a:prstGeom>
          <a:solidFill>
            <a:srgbClr val="2F6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63040" y="3648455"/>
            <a:ext cx="10058400" cy="8686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213952"/>
                </a:solidFill>
                <a:latin typeface="Calibri"/>
              </a:rPr>
              <a:t>Explanations validated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F2A37"/>
                </a:solidFill>
                <a:latin typeface="Calibri"/>
              </a:rPr>
              <a:t>Grad-CAM and SHAP confirm focus on athletes and equipment — and expose occasional background reliance (RQ3).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640080" y="4608575"/>
            <a:ext cx="640080" cy="384048"/>
          </a:xfrm>
          <a:prstGeom prst="rightArrow">
            <a:avLst/>
          </a:prstGeom>
          <a:solidFill>
            <a:srgbClr val="2F6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63040" y="4535423"/>
            <a:ext cx="10058400" cy="8686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213952"/>
                </a:solidFill>
                <a:latin typeface="Calibri"/>
              </a:rPr>
              <a:t>Deployed prototype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F2A37"/>
                </a:solidFill>
                <a:latin typeface="Calibri"/>
              </a:rPr>
              <a:t>EfficientNetV2-B0 chosen for balance and shipped as an explainable web demo (RQ4, RQ5).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5486400"/>
            <a:ext cx="10908792" cy="1097280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7" y="5687568"/>
            <a:ext cx="10506456" cy="694944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13952"/>
                </a:solidFill>
                <a:latin typeface="Calibri"/>
              </a:rPr>
              <a:t>🔭  Limitations &amp; future work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213952"/>
                </a:solidFill>
                <a:latin typeface="Calibri"/>
              </a:rPr>
              <a:t>Single public dataset, no external validation, and heatmaps are not proof of correct reasoning. Future work: add diverse external data and reduce background-shortcut behaviour.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